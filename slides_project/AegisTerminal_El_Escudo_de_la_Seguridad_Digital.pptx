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898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1525"/>
            <a:ext cx="1861792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FF41"/>
                </a:solidFill>
              </a:rPr>
              <a:t>root@ahbyte:~# ./aegis_init</a:t>
            </a:r>
            <a:endParaRPr lang="en-US" sz="1269" dirty="0"/>
          </a:p>
        </p:txBody>
      </p:sp>
      <p:sp>
        <p:nvSpPr>
          <p:cNvPr id="4" name="Text 1"/>
          <p:cNvSpPr/>
          <p:nvPr/>
        </p:nvSpPr>
        <p:spPr>
          <a:xfrm>
            <a:off x="628650" y="1441447"/>
            <a:ext cx="1677191" cy="816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353" b="1" kern="0" spc="-2" dirty="0">
                <a:solidFill>
                  <a:srgbClr val="00FF41"/>
                </a:solidFill>
              </a:rPr>
              <a:t>Aegis</a:t>
            </a:r>
            <a:endParaRPr lang="en-US" sz="4353" dirty="0"/>
          </a:p>
        </p:txBody>
      </p:sp>
      <p:sp>
        <p:nvSpPr>
          <p:cNvPr id="5" name="Text 2"/>
          <p:cNvSpPr/>
          <p:nvPr/>
        </p:nvSpPr>
        <p:spPr>
          <a:xfrm>
            <a:off x="628650" y="2041522"/>
            <a:ext cx="3005510" cy="816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353" b="1" kern="0" spc="-2" dirty="0">
                <a:solidFill>
                  <a:srgbClr val="00FF41"/>
                </a:solidFill>
              </a:rPr>
              <a:t>Terminal</a:t>
            </a:r>
            <a:endParaRPr lang="en-US" sz="4353" dirty="0"/>
          </a:p>
        </p:txBody>
      </p:sp>
      <p:sp>
        <p:nvSpPr>
          <p:cNvPr id="6" name="Text 3"/>
          <p:cNvSpPr/>
          <p:nvPr/>
        </p:nvSpPr>
        <p:spPr>
          <a:xfrm>
            <a:off x="628650" y="3122014"/>
            <a:ext cx="4457700" cy="62507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E0E0E0"/>
                </a:solidFill>
              </a:rPr>
              <a:t>El Escudo de la Seguridad Digital: Suite Avanzada de Pentesting</a:t>
            </a:r>
            <a:endParaRPr lang="en-US" sz="1704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4045148"/>
            <a:ext cx="112514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2602" y="4021931"/>
            <a:ext cx="1247136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Desarrollado por: AHByte</a:t>
            </a:r>
            <a:endParaRPr lang="en-US" sz="942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348758"/>
            <a:ext cx="112514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2602" y="4325541"/>
            <a:ext cx="11425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Versión: 1.6 Stable</a:t>
            </a:r>
            <a:endParaRPr lang="en-US" sz="94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5629275" y="142875"/>
            <a:ext cx="3571875" cy="4972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5143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FF41"/>
                </a:solidFill>
              </a:rPr>
              <a:t>Introducción y Filosofía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436536"/>
            <a:ext cx="4400550" cy="1275159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528638" y="1536548"/>
            <a:ext cx="1831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// AegisTerminal Core Concept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28638" y="1768720"/>
            <a:ext cx="4286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3333"/>
                </a:solidFill>
              </a:rPr>
              <a:t>class</a:t>
            </a:r>
            <a:r>
              <a:rPr lang="en-US" sz="942" dirty="0">
                <a:solidFill>
                  <a:srgbClr val="00FF41"/>
                </a:solidFill>
              </a:rPr>
              <a:t>AegisTerminal</a:t>
            </a:r>
            <a:r>
              <a:rPr lang="en-US" sz="942" dirty="0">
                <a:solidFill>
                  <a:srgbClr val="E0E0E0"/>
                </a:solidFill>
              </a:rPr>
              <a:t> {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28638" y="2000892"/>
            <a:ext cx="4286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vision = </a:t>
            </a:r>
            <a:r>
              <a:rPr lang="en-US" sz="942" dirty="0">
                <a:solidFill>
                  <a:srgbClr val="00FF41"/>
                </a:solidFill>
              </a:rPr>
              <a:t>"Centralized Automation"</a:t>
            </a:r>
            <a:r>
              <a:rPr lang="en-US" sz="942" dirty="0">
                <a:solidFill>
                  <a:srgbClr val="E0E0E0"/>
                </a:solidFill>
              </a:rPr>
              <a:t>;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28638" y="2233064"/>
            <a:ext cx="4286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goal = </a:t>
            </a:r>
            <a:r>
              <a:rPr lang="en-US" sz="942" dirty="0">
                <a:solidFill>
                  <a:srgbClr val="00FF41"/>
                </a:solidFill>
              </a:rPr>
              <a:t>"Strategic Focus"</a:t>
            </a:r>
            <a:r>
              <a:rPr lang="en-US" sz="942" dirty="0">
                <a:solidFill>
                  <a:srgbClr val="E0E0E0"/>
                </a:solidFill>
              </a:rPr>
              <a:t>;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28638" y="2465236"/>
            <a:ext cx="4286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}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2783132"/>
            <a:ext cx="428625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FF3333"/>
                </a:solidFill>
              </a:rPr>
              <a:t>_</a:t>
            </a:r>
            <a:r>
              <a:rPr lang="en-US" sz="1159" dirty="0">
                <a:solidFill>
                  <a:srgbClr val="E0E0E0"/>
                </a:solidFill>
              </a:rPr>
              <a:t>AegisTerminal centraliza las herramientas más potentes en una interfaz modular.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428625" y="3386054"/>
            <a:ext cx="428625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FF3333"/>
                </a:solidFill>
              </a:rPr>
              <a:t>_</a:t>
            </a:r>
            <a:r>
              <a:rPr lang="en-US" sz="1159" dirty="0">
                <a:solidFill>
                  <a:srgbClr val="E0E0E0"/>
                </a:solidFill>
              </a:rPr>
              <a:t>Filosofía: "Automatizar lo repetitivo para centrarse en lo estratégico".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428625" y="3988975"/>
            <a:ext cx="428625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FF3333"/>
                </a:solidFill>
              </a:rPr>
              <a:t>_</a:t>
            </a:r>
            <a:r>
              <a:rPr lang="en-US" sz="1159" dirty="0">
                <a:solidFill>
                  <a:srgbClr val="E0E0E0"/>
                </a:solidFill>
              </a:rPr>
              <a:t>Inspiración: Basado en la eficiencia de suites clásicas como lscript, con un enfoque moderno.</a:t>
            </a:r>
            <a:endParaRPr lang="en-US" sz="1159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431" y="950119"/>
            <a:ext cx="3243263" cy="32432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5143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FF41"/>
                </a:solidFill>
              </a:rPr>
              <a:t>Reconocimiento de Red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556193"/>
            <a:ext cx="155600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" y="1490811"/>
            <a:ext cx="343826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Gestión de Identidad: MAC &amp; IP Anonymity</a:t>
            </a:r>
            <a:endParaRPr lang="en-US" sz="1269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059102"/>
            <a:ext cx="155600" cy="2000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43000" y="1993720"/>
            <a:ext cx="361384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Nmap Avanzado: Stealth &amp; Version Detection</a:t>
            </a:r>
            <a:endParaRPr lang="en-US" sz="1269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562011"/>
            <a:ext cx="155600" cy="2000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43000" y="2496629"/>
            <a:ext cx="365534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Análisis Agresivo: OS &amp; Service Fingerprinting</a:t>
            </a:r>
            <a:endParaRPr lang="en-US" sz="1269" dirty="0"/>
          </a:p>
        </p:txBody>
      </p:sp>
      <p:sp>
        <p:nvSpPr>
          <p:cNvPr id="10" name="Shape 4"/>
          <p:cNvSpPr/>
          <p:nvPr/>
        </p:nvSpPr>
        <p:spPr>
          <a:xfrm>
            <a:off x="428625" y="3045275"/>
            <a:ext cx="4407694" cy="1041202"/>
          </a:xfrm>
          <a:prstGeom prst="rect">
            <a:avLst/>
          </a:prstGeom>
          <a:solidFill>
            <a:srgbClr val="000000"/>
          </a:solidFill>
          <a:ln w="9144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5"/>
          <p:cNvSpPr/>
          <p:nvPr/>
        </p:nvSpPr>
        <p:spPr>
          <a:xfrm>
            <a:off x="535781" y="3152431"/>
            <a:ext cx="4286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root@aegis:~# nmap -sS -sV -T4 192.168.1.1</a:t>
            </a:r>
            <a:endParaRPr lang="en-US" sz="834" dirty="0"/>
          </a:p>
        </p:txBody>
      </p:sp>
      <p:sp>
        <p:nvSpPr>
          <p:cNvPr id="12" name="Text 6"/>
          <p:cNvSpPr/>
          <p:nvPr/>
        </p:nvSpPr>
        <p:spPr>
          <a:xfrm>
            <a:off x="535781" y="3343526"/>
            <a:ext cx="4286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Starting Nmap 7.92...</a:t>
            </a:r>
            <a:endParaRPr lang="en-US" sz="834" dirty="0"/>
          </a:p>
        </p:txBody>
      </p:sp>
      <p:sp>
        <p:nvSpPr>
          <p:cNvPr id="13" name="Text 7"/>
          <p:cNvSpPr/>
          <p:nvPr/>
        </p:nvSpPr>
        <p:spPr>
          <a:xfrm>
            <a:off x="535781" y="3534621"/>
            <a:ext cx="4286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Nmap scan report for target (192.168.1.1)</a:t>
            </a:r>
            <a:endParaRPr lang="en-US" sz="834" dirty="0"/>
          </a:p>
        </p:txBody>
      </p:sp>
      <p:sp>
        <p:nvSpPr>
          <p:cNvPr id="14" name="Text 8"/>
          <p:cNvSpPr/>
          <p:nvPr/>
        </p:nvSpPr>
        <p:spPr>
          <a:xfrm>
            <a:off x="535781" y="3725717"/>
            <a:ext cx="4286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PORT STATE SERVICE VERSION</a:t>
            </a:r>
            <a:endParaRPr lang="en-US" sz="834" dirty="0"/>
          </a:p>
        </p:txBody>
      </p:sp>
      <p:sp>
        <p:nvSpPr>
          <p:cNvPr id="15" name="Text 9"/>
          <p:cNvSpPr/>
          <p:nvPr/>
        </p:nvSpPr>
        <p:spPr>
          <a:xfrm>
            <a:off x="535781" y="3916812"/>
            <a:ext cx="4286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80/tcp open http Apache 2.4.41</a:t>
            </a:r>
            <a:endParaRPr lang="en-US" sz="834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6431" y="1485900"/>
            <a:ext cx="3243263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FF41"/>
                </a:solidFill>
              </a:rPr>
              <a:t>Auditoría Inalámbrica (WiFi)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665136"/>
            <a:ext cx="385762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FF3333"/>
                </a:solidFill>
              </a:rPr>
              <a:t>Capacidades de la Suite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2142316"/>
            <a:ext cx="3857625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FF3333"/>
                </a:solidFill>
              </a:rPr>
              <a:t>&gt;</a:t>
            </a:r>
            <a:r>
              <a:rPr lang="en-US" sz="1159" dirty="0">
                <a:solidFill>
                  <a:srgbClr val="E0E0E0"/>
                </a:solidFill>
              </a:rPr>
              <a:t> Gestión de interfaces en modo monitor con </a:t>
            </a:r>
            <a:r>
              <a:rPr lang="en-US" sz="1090" b="1" dirty="0">
                <a:solidFill>
                  <a:srgbClr val="FF3333"/>
                </a:solidFill>
              </a:rPr>
              <a:t>airmon-ng</a:t>
            </a:r>
            <a:r>
              <a:rPr lang="en-US" sz="1159" dirty="0">
                <a:solidFill>
                  <a:srgbClr val="E0E0E0"/>
                </a:solidFill>
              </a:rPr>
              <a:t>.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571500" y="2802387"/>
            <a:ext cx="3857625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FF3333"/>
                </a:solidFill>
              </a:rPr>
              <a:t>&gt;</a:t>
            </a:r>
            <a:r>
              <a:rPr lang="en-US" sz="1159" dirty="0">
                <a:solidFill>
                  <a:srgbClr val="E0E0E0"/>
                </a:solidFill>
              </a:rPr>
              <a:t> Escaneo de redes en tiempo real con </a:t>
            </a:r>
            <a:r>
              <a:rPr lang="en-US" sz="1090" b="1" dirty="0">
                <a:solidFill>
                  <a:srgbClr val="FF3333"/>
                </a:solidFill>
              </a:rPr>
              <a:t>airodump-ng</a:t>
            </a:r>
            <a:r>
              <a:rPr lang="en-US" sz="1159" dirty="0">
                <a:solidFill>
                  <a:srgbClr val="E0E0E0"/>
                </a:solidFill>
              </a:rPr>
              <a:t>.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3462458"/>
            <a:ext cx="385762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FF3333"/>
                </a:solidFill>
              </a:rPr>
              <a:t>&gt;</a:t>
            </a:r>
            <a:r>
              <a:rPr lang="en-US" sz="1159" dirty="0">
                <a:solidFill>
                  <a:srgbClr val="E0E0E0"/>
                </a:solidFill>
              </a:rPr>
              <a:t> Captura automatizada de handshakes WPA/WPA2.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3871075"/>
            <a:ext cx="3857625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FF3333"/>
                </a:solidFill>
              </a:rPr>
              <a:t>&gt;</a:t>
            </a:r>
            <a:r>
              <a:rPr lang="en-US" sz="1159" dirty="0">
                <a:solidFill>
                  <a:srgbClr val="E0E0E0"/>
                </a:solidFill>
              </a:rPr>
              <a:t> Evaluación de seguridad en infraestructuras inalámbricas.</a:t>
            </a:r>
            <a:endParaRPr lang="en-US" sz="1090" dirty="0"/>
          </a:p>
        </p:txBody>
      </p:sp>
      <p:sp>
        <p:nvSpPr>
          <p:cNvPr id="9" name="Shape 6"/>
          <p:cNvSpPr/>
          <p:nvPr/>
        </p:nvSpPr>
        <p:spPr>
          <a:xfrm>
            <a:off x="4714875" y="1465111"/>
            <a:ext cx="3857625" cy="3014663"/>
          </a:xfrm>
          <a:prstGeom prst="rect">
            <a:avLst/>
          </a:prstGeom>
          <a:solidFill>
            <a:srgbClr val="000000"/>
          </a:solidFill>
          <a:ln w="9144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4857750" y="1607986"/>
            <a:ext cx="3714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CH 11 ][ Elapsed: 12 s ][ 2025-12-30 14:00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857750" y="1815154"/>
            <a:ext cx="3714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BSSID PWR Beacons #Data, #/s CH MB ENC CIPHER AUTH ESSID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857750" y="1986604"/>
            <a:ext cx="3714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3333"/>
                </a:solidFill>
              </a:rPr>
              <a:t>AA:BB:CC:DD:EE:FF -42 12 45 0 11 54e WPA2 CCMP PSK Target_WiFi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857750" y="2193773"/>
            <a:ext cx="3714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BSSID STATION PWR Rate Lost Frames Probe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4857750" y="2365223"/>
            <a:ext cx="3714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</a:rPr>
              <a:t>AA:BB:CC:DD:EE:FF 11:22:33:44:55:66 -50 0 - 1 0 12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857750" y="2643829"/>
            <a:ext cx="3714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</a:rPr>
              <a:t>[+] WPA HANDSHAKE CAPTURED!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4429125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FF41"/>
                </a:solidFill>
              </a:rPr>
              <a:t>Escaneo Web Estratégico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967852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5806" y="1931240"/>
            <a:ext cx="50369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3333"/>
                </a:solidFill>
              </a:rPr>
              <a:t>Nikto</a:t>
            </a:r>
            <a:endParaRPr lang="en-US" sz="1486" dirty="0"/>
          </a:p>
        </p:txBody>
      </p:sp>
      <p:sp>
        <p:nvSpPr>
          <p:cNvPr id="6" name="Text 2"/>
          <p:cNvSpPr/>
          <p:nvPr/>
        </p:nvSpPr>
        <p:spPr>
          <a:xfrm>
            <a:off x="428625" y="2275926"/>
            <a:ext cx="3929063" cy="642938"/>
          </a:xfrm>
          <a:prstGeom prst="rect">
            <a:avLst/>
          </a:prstGeom>
          <a:noFill/>
          <a:ln/>
        </p:spPr>
        <p:txBody>
          <a:bodyPr wrap="square" lIns="36563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Análisis exhaustivo de servidores web en busca de configuraciones inseguras, archivos peligrosos y CGIs obsoletos.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169788"/>
            <a:ext cx="200025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5806" y="3133176"/>
            <a:ext cx="74869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3333"/>
                </a:solidFill>
              </a:rPr>
              <a:t>WPScan</a:t>
            </a:r>
            <a:endParaRPr lang="en-US" sz="1486" dirty="0"/>
          </a:p>
        </p:txBody>
      </p:sp>
      <p:sp>
        <p:nvSpPr>
          <p:cNvPr id="9" name="Text 4"/>
          <p:cNvSpPr/>
          <p:nvPr/>
        </p:nvSpPr>
        <p:spPr>
          <a:xfrm>
            <a:off x="428625" y="3477862"/>
            <a:ext cx="3929063" cy="642938"/>
          </a:xfrm>
          <a:prstGeom prst="rect">
            <a:avLst/>
          </a:prstGeom>
          <a:noFill/>
          <a:ln/>
        </p:spPr>
        <p:txBody>
          <a:bodyPr wrap="square" lIns="36563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Auditoría especializada para ecosistemas WordPress. Detección de plugins, temas y versiones del core vulnerables.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28625" y="4406550"/>
            <a:ext cx="4429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[!] Identificación temprana de vectores de ataque.</a:t>
            </a:r>
            <a:endParaRPr lang="en-US" sz="942" dirty="0"/>
          </a:p>
        </p:txBody>
      </p:sp>
      <p:sp>
        <p:nvSpPr>
          <p:cNvPr id="11" name="Shape 6"/>
          <p:cNvSpPr/>
          <p:nvPr/>
        </p:nvSpPr>
        <p:spPr>
          <a:xfrm>
            <a:off x="4857750" y="0"/>
            <a:ext cx="428625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711682"/>
            <a:ext cx="3943350" cy="17201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4429125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FF41"/>
                </a:solidFill>
              </a:rPr>
              <a:t>Fuerza Bruta y Explotación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931240"/>
            <a:ext cx="3571875" cy="27682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3333"/>
                </a:solidFill>
              </a:rPr>
              <a:t>Hydra: Brute Force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428625" y="2315217"/>
            <a:ext cx="3571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Ataques automatizados contra servicios críticos (</a:t>
            </a:r>
            <a:r>
              <a:rPr lang="en-US" sz="1050" dirty="0">
                <a:solidFill>
                  <a:srgbClr val="00FF41"/>
                </a:solidFill>
              </a:rPr>
              <a:t>SSH, FTP</a:t>
            </a:r>
            <a:r>
              <a:rPr lang="en-US" sz="1050" dirty="0">
                <a:solidFill>
                  <a:srgbClr val="E0E0E0"/>
                </a:solidFill>
              </a:rPr>
              <a:t>). Soporte para wordlists personalizadas y multithreading para máxima eficiencia.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28625" y="3215329"/>
            <a:ext cx="3571875" cy="27682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3333"/>
                </a:solidFill>
              </a:rPr>
              <a:t>Metasploit Framework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3599306"/>
            <a:ext cx="3571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Generación de payloads con </a:t>
            </a:r>
            <a:r>
              <a:rPr lang="en-US" sz="1050" dirty="0">
                <a:solidFill>
                  <a:srgbClr val="00FF41"/>
                </a:solidFill>
              </a:rPr>
              <a:t>msfvenom</a:t>
            </a:r>
            <a:r>
              <a:rPr lang="en-US" sz="1050" dirty="0">
                <a:solidFill>
                  <a:srgbClr val="E0E0E0"/>
                </a:solidFill>
              </a:rPr>
              <a:t> y configuración de listeners con </a:t>
            </a:r>
            <a:r>
              <a:rPr lang="en-US" sz="1050" dirty="0">
                <a:solidFill>
                  <a:srgbClr val="00FF41"/>
                </a:solidFill>
              </a:rPr>
              <a:t>msfconsole</a:t>
            </a:r>
            <a:r>
              <a:rPr lang="en-US" sz="1050" dirty="0">
                <a:solidFill>
                  <a:srgbClr val="E0E0E0"/>
                </a:solidFill>
              </a:rPr>
              <a:t>. Demostración de impacto real mediante la obtención de acceso.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57750" y="0"/>
            <a:ext cx="428625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1253728"/>
            <a:ext cx="4143375" cy="26360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44291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FF41"/>
                </a:solidFill>
              </a:rPr>
              <a:t>Ingeniería Social (SET)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465111"/>
            <a:ext cx="3929063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E0E0E0"/>
                </a:solidFill>
              </a:rPr>
              <a:t>Integración de la suite líder </a:t>
            </a:r>
            <a:r>
              <a:rPr lang="en-US" sz="1159" dirty="0">
                <a:solidFill>
                  <a:srgbClr val="FF3333"/>
                </a:solidFill>
              </a:rPr>
              <a:t>Social-Engineer Toolkit</a:t>
            </a:r>
            <a:r>
              <a:rPr lang="en-US" sz="1159" dirty="0">
                <a:solidFill>
                  <a:srgbClr val="E0E0E0"/>
                </a:solidFill>
              </a:rPr>
              <a:t> para evaluar el factor humano en la seguridad.</a:t>
            </a:r>
            <a:endParaRPr lang="en-US" sz="1159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218051"/>
            <a:ext cx="114300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0081" y="2182332"/>
            <a:ext cx="420766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Clonación de sitios web para simulaciones de phishing ético y recolección de credenciales.</a:t>
            </a:r>
            <a:endParaRPr lang="en-US" sz="834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635960"/>
            <a:ext cx="114300" cy="114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0081" y="2600241"/>
            <a:ext cx="420766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Vectores de ataque basados en email (Spear-Phishing) y medios extraíbles infectados.</a:t>
            </a:r>
            <a:endParaRPr lang="en-US" sz="834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053869"/>
            <a:ext cx="142875" cy="1143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78656" y="3018151"/>
            <a:ext cx="417909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Herramienta clave para programas de concienciación y evaluación de resiliencia organizacional.</a:t>
            </a:r>
            <a:endParaRPr lang="en-US" sz="834" dirty="0"/>
          </a:p>
        </p:txBody>
      </p:sp>
      <p:sp>
        <p:nvSpPr>
          <p:cNvPr id="11" name="Shape 5"/>
          <p:cNvSpPr/>
          <p:nvPr/>
        </p:nvSpPr>
        <p:spPr>
          <a:xfrm>
            <a:off x="4857750" y="0"/>
            <a:ext cx="428625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6344" y="428625"/>
            <a:ext cx="3929063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FF41"/>
                </a:solidFill>
              </a:rPr>
              <a:t>Auditoría Móvil (Android/iOS)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693711"/>
            <a:ext cx="3786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33"/>
                </a:solidFill>
              </a:rPr>
              <a:t>Análisis Básico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2163412"/>
            <a:ext cx="3786188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E0E0E0"/>
                </a:solidFill>
              </a:rPr>
              <a:t>Extracción de metadatos críticos, permisos y versiones de SDK utilizando </a:t>
            </a:r>
            <a:r>
              <a:rPr lang="en-US" sz="1159" dirty="0">
                <a:solidFill>
                  <a:srgbClr val="00FF41"/>
                </a:solidFill>
              </a:rPr>
              <a:t>aapt</a:t>
            </a:r>
            <a:r>
              <a:rPr lang="en-US" sz="1159" dirty="0">
                <a:solidFill>
                  <a:srgbClr val="E0E0E0"/>
                </a:solidFill>
              </a:rPr>
              <a:t>.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571500" y="2880633"/>
            <a:ext cx="3786188" cy="72866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571500" y="2880633"/>
            <a:ext cx="28575" cy="728663"/>
          </a:xfrm>
          <a:prstGeom prst="rect">
            <a:avLst/>
          </a:prstGeom>
          <a:solidFill>
            <a:srgbClr val="00FF4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71500" y="2880633"/>
            <a:ext cx="3786188" cy="728663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$ aapt dump badging app.apk
 package: name='com.target.app'
 sdkVersion:'21'
 targetSdkVersion:'30'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786313" y="1693711"/>
            <a:ext cx="3786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3333"/>
                </a:solidFill>
              </a:rPr>
              <a:t>Análisis Profundo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4786313" y="2163412"/>
            <a:ext cx="3786188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E0E0E0"/>
                </a:solidFill>
              </a:rPr>
              <a:t>Descompilación completa de archivos APK en código Smali y recursos con </a:t>
            </a:r>
            <a:r>
              <a:rPr lang="en-US" sz="1159" dirty="0">
                <a:solidFill>
                  <a:srgbClr val="00FF41"/>
                </a:solidFill>
              </a:rPr>
              <a:t>apktool</a:t>
            </a:r>
            <a:r>
              <a:rPr lang="en-US" sz="1159" dirty="0">
                <a:solidFill>
                  <a:srgbClr val="E0E0E0"/>
                </a:solidFill>
              </a:rPr>
              <a:t>.</a:t>
            </a:r>
            <a:endParaRPr lang="en-US" sz="1159" dirty="0"/>
          </a:p>
        </p:txBody>
      </p:sp>
      <p:sp>
        <p:nvSpPr>
          <p:cNvPr id="11" name="Shape 8"/>
          <p:cNvSpPr/>
          <p:nvPr/>
        </p:nvSpPr>
        <p:spPr>
          <a:xfrm>
            <a:off x="4786313" y="2880633"/>
            <a:ext cx="3786188" cy="72866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786313" y="2880633"/>
            <a:ext cx="28575" cy="728663"/>
          </a:xfrm>
          <a:prstGeom prst="rect">
            <a:avLst/>
          </a:prstGeom>
          <a:solidFill>
            <a:srgbClr val="00FF4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4786313" y="2880633"/>
            <a:ext cx="3786188" cy="728663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</a:rPr>
              <a:t>$ apktool d app.apk
 I: Using Apktool 2.6.1
 I: Loading resource table...
 I: Decompiling code...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5143500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FF41"/>
                </a:solidFill>
              </a:rPr>
              <a:t>Instalación y Escalabilidad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931240"/>
            <a:ext cx="4286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3333"/>
                </a:solidFill>
              </a:rPr>
              <a:t>Instalador Inteligente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428625" y="2236636"/>
            <a:ext cx="4286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Gestión automatizada de dependencias en Kali Linux y sistemas Debian.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28625" y="2736698"/>
            <a:ext cx="4286250" cy="24645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428625" y="2736698"/>
            <a:ext cx="4286250" cy="246459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</a:rPr>
              <a:t># sudo ./setup.sh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28625" y="3197470"/>
            <a:ext cx="4286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3333"/>
                </a:solidFill>
              </a:rPr>
              <a:t>Arquitectura Modular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428625" y="3502865"/>
            <a:ext cx="4286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Estructura de directorios diseñada para la fácil integración de nuevos módulos y herramientas.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4145803"/>
            <a:ext cx="4286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3333"/>
                </a:solidFill>
              </a:rPr>
              <a:t>Enfoque Comunitario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428625" y="4451198"/>
            <a:ext cx="4286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E0E0"/>
                </a:solidFill>
              </a:rPr>
              <a:t>Código abierto bajo licencia GPL-3.0, fomentando la colaboración y mejora continua.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5743575" y="421481"/>
            <a:ext cx="3228975" cy="43005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93831"/>
            <a:ext cx="428625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00FF41"/>
                </a:solidFill>
              </a:rPr>
              <a:t>Conclusión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2002873"/>
            <a:ext cx="357187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E0E0E0"/>
                </a:solidFill>
              </a:rPr>
              <a:t>AegisTerminal es la solución integral para el profesional de seguridad moderno, cubriendo todas las fases del ciclo de vida del pentesting.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1500" y="3528733"/>
            <a:ext cx="3571875" cy="46791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3333"/>
                </a:solidFill>
              </a:rPr>
              <a:t>[!] ADVERTENCIA: Esta herramienta es exclusivamente para fines educativos y auditorías autorizadas. El uso indebido es ilegal.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71500" y="4282399"/>
            <a:ext cx="428625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root@aegis:~# exit
 Logout... [OK]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857750" y="0"/>
            <a:ext cx="428625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344" y="1632989"/>
            <a:ext cx="3929063" cy="1877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Office PowerPoint</Application>
  <PresentationFormat>Presentación en pantalla (16:9)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Odlanier Alfonso Garcia</cp:lastModifiedBy>
  <cp:revision>3</cp:revision>
  <dcterms:created xsi:type="dcterms:W3CDTF">2025-12-30T07:13:22Z</dcterms:created>
  <dcterms:modified xsi:type="dcterms:W3CDTF">2025-12-31T00:59:01Z</dcterms:modified>
</cp:coreProperties>
</file>